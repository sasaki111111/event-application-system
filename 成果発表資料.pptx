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8" r:id="rId19"/>
    <p:sldId id="257" r:id="rId3"/>
    <p:sldId id="264" r:id="rId4"/>
    <p:sldId id="265" r:id="rId5"/>
    <p:sldId id="258" r:id="rId6"/>
    <p:sldId id="266" r:id="rId17"/>
    <p:sldId id="259" r:id="rId7"/>
    <p:sldId id="267" r:id="rId18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9.xml"/><Relationship Id="rId13" Type="http://schemas.openxmlformats.org/officeDocument/2006/relationships/presProps" Target="presProps.xml"/><Relationship Id="rId18" Type="http://schemas.openxmlformats.org/officeDocument/2006/relationships/slide" Target="slides/slide8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2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11.xml"/><Relationship Id="rId19" Type="http://schemas.openxmlformats.org/officeDocument/2006/relationships/slide" Target="slides/slide13.xml"/><Relationship Id="rId4" Type="http://schemas.openxmlformats.org/officeDocument/2006/relationships/slide" Target="slides/slide3.xml"/><Relationship Id="rId9" Type="http://schemas.openxmlformats.org/officeDocument/2006/relationships/slide" Target="slides/slide10.xml"/><Relationship Id="rId14" Type="http://schemas.openxmlformats.org/officeDocument/2006/relationships/viewProps" Target="viewProps.xml"/><Relationship Id="rId22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422AE-5A45-4B28-832B-FAF658F7BCE9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BE13F-4C1D-4A0A-9FCA-4E923CD222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002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BE13F-4C1D-4A0A-9FCA-4E923CD2229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226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03919C-3831-7FBF-040A-DE663FA94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E2EA2DF-2050-8490-4D79-FC89CF667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289DD0-1B80-BAA9-C1C7-94536D2E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A3CA4C-40DB-313F-2270-0966E18D2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98DA4E-DEE3-48BB-CD4C-9DF12A9D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836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FE9A9A-31C4-DC4B-73FB-004045AC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7378A9-7669-2359-FC48-36F04C34A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FED829-2B5A-FC21-CF10-18FF04CF0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409113-1D3E-9BE1-0AD5-6690C88D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69D77-5860-0A4E-0C06-28DDC15C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506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956273-E7D0-64A5-BBC7-ADB59EEAC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60E2D3-62CD-4A90-563C-DB964FF13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E146EF-48E6-6DAB-3FF2-ADF21642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4F96E4-0EC5-8E39-762E-48BE5085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0BA90B-CCCB-C7B6-923F-F3FDE2EA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683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684367-8535-3844-FB6C-94769BC5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055505-73B4-9D61-6B76-36F2407AC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682A7B-56A7-BEBC-5ABA-5C05136F4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07A14B-7652-07CA-F1CF-5C4A103AE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993C0D-8D85-621C-27F1-BE0E15B2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0B9317-140A-B0CC-A050-2CF9DD5EC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2100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95AED2-D8F9-2788-ED3D-FF36F2A12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EA52A3-F93A-2D3A-778F-77FCE4729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F67638-04CC-BFBE-7ECF-017E44815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D4BD35E-A057-256C-69C0-D879E6F85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5BCE27-92BC-1674-CFBD-3DAD657EF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3C4DA02-0EEB-E993-F68D-DC79C85A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3399664-65A8-5490-0804-56D89E3DB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2D989E4-21AB-C163-3E5C-0C0D850E5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708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E9B293-D359-394D-F926-145EED1C5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4D259A3-041F-7C9C-174C-128365E1B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0B2DD66-3686-DAD5-3699-C4EF8AF5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C10E56B-5389-CDC9-D690-53AB7D55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57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FC8EE4B-CBAF-3462-366F-5AD8F58DC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0506516-064A-D4DC-6C82-238B3C800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79E0B1-4DAB-0EC1-3B24-3EE38C79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676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78C9A2-6B1B-31AA-59E2-1E39B656F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10D1DA-DC50-83BC-FFEF-E38F8B259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52E76-A226-767A-07B0-313AD5352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E42B46-4892-8E65-6080-AE547E1B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3489C2-66E6-A133-BF91-EB1D08A4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8208A1-D410-1D04-F644-78E68030B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412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F4A89B-910E-2E58-CF01-2184DB21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8CDF6D9-FDD1-5A6D-0EB5-8BAA5D0753C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175FE0-7F9A-187B-3836-632C98411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0234B9-BA0B-0B78-D39C-7477DB95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38B050-A583-B742-E5B2-7D4168278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754FF3-9E44-5B1D-053F-EA2A1827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446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9762BF-ED02-7BA8-0EC0-6036D7FCB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79DF35-4B69-4D91-25AB-055A3EB16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5C9D23-BFF4-992F-FEF2-9BD1D8FF7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1F6A59-E29A-27F1-D289-186B35610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2D66C4-4514-4859-E811-42B0EEA9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0329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494350D-7078-16F7-EFEA-AB5539023C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8C19B1-0495-1F57-E1C0-15D0302A9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3D97CC-272F-4E77-70AF-0AC805FFD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7B70DC-F665-E53E-3850-31085482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7B19FA-1188-86AF-4942-69B8A670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23606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981D37-64D9-01A7-FCBB-7D5F24CAF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895AFC-7535-94E1-B5DB-51821AF24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49C53B-07D2-235E-A963-1EF48FDA5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4B6D45-5012-304E-9F7B-712886A45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7EE428-501D-A6CB-1E49-873165241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23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CB69B7-DD6C-2FE0-DA7A-798A8E7266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>
                <a:latin typeface="Meiryo UI"/>
              </a:rPr>
              <a:t>イベント申込システム　成果発表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7AD17A8-2D6F-4750-010F-A53FB4B8DC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作成者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：佐々木 健成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作成日：2026-10-02</a:t>
            </a:r>
          </a:p>
        </p:txBody>
      </p:sp>
    </p:spTree>
    <p:extLst>
      <p:ext uri="{BB962C8B-B14F-4D97-AF65-F5344CB8AC3E}">
        <p14:creationId xmlns:p14="http://schemas.microsoft.com/office/powerpoint/2010/main" val="1225037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90C4D7-C5D1-6190-4D2B-961ABF26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1．目的・利用者像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03C56A-1037-0840-28B5-6A6B00067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1800" b="1" dirty="0" err="1">
                <a:latin typeface="Meiryo UI"/>
              </a:rPr>
              <a:t>目的：</a:t>
            </a:r>
            <a:r>
              <a:rPr sz="1800" b="0" dirty="0" err="1">
                <a:latin typeface="Meiryo UI"/>
              </a:rPr>
              <a:t>イベントの募集・申込受付・当日運営・実績集計を一つのシステムで一元管理するWebアプリケーション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>
                <a:latin typeface="Meiryo UI"/>
              </a:rPr>
              <a:t>解決したい課題：</a:t>
            </a:r>
            <a:r>
              <a:rPr sz="1800" b="0" dirty="0">
                <a:latin typeface="Meiryo UI"/>
              </a:rPr>
              <a:t>紙・メール・表計算での管理では、申込状況（残り枠）をリアルタイムに把握しづらい／定員超過時のキャンセル待ち管理や繰り上げ処理が煩雑／当日の参加者受付に手間がかかる／複数イベントの実績集計に時間がかかる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 err="1">
                <a:latin typeface="Meiryo UI"/>
              </a:rPr>
              <a:t>一般利用者：</a:t>
            </a:r>
            <a:r>
              <a:rPr sz="1800" b="0" dirty="0" err="1">
                <a:latin typeface="Meiryo UI"/>
              </a:rPr>
              <a:t>イベントを探して参加を申し込み、お気に入り登録やコメントで情報交換する立場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 err="1">
                <a:latin typeface="Meiryo UI"/>
              </a:rPr>
              <a:t>管理者：</a:t>
            </a:r>
            <a:r>
              <a:rPr sz="1800" b="0" dirty="0" err="1">
                <a:latin typeface="Meiryo UI"/>
              </a:rPr>
              <a:t>イベントを企画・管理し、当日運営と実績集計を行う立場</a:t>
            </a:r>
            <a:endParaRPr sz="1800" b="0" dirty="0">
              <a:latin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3769294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eiryo UI"/>
              </a:rPr>
              <a:t>2．機能一覧（一般利用者向け）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b="1" dirty="0" err="1">
                <a:latin typeface="Meiryo UI"/>
              </a:rPr>
              <a:t>イベントを探す：</a:t>
            </a:r>
            <a:r>
              <a:rPr sz="1800" b="0" dirty="0" err="1">
                <a:latin typeface="Meiryo UI"/>
              </a:rPr>
              <a:t>一覧表示／カレンダー表示の切り替え、キーワード・開催日での検索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>
                <a:latin typeface="Meiryo UI"/>
              </a:rPr>
              <a:t>イベントに申し込む：</a:t>
            </a:r>
            <a:r>
              <a:rPr sz="1800" b="0" dirty="0">
                <a:latin typeface="Meiryo UI"/>
              </a:rPr>
              <a:t>参加区分やアンケートがある場合は選択・回答して申込。定員に達している場合もエラーにせず、自動でキャンセル待ちに登録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 err="1">
                <a:latin typeface="Meiryo UI"/>
              </a:rPr>
              <a:t>申込を管理する：</a:t>
            </a:r>
            <a:r>
              <a:rPr sz="1800" b="0" dirty="0" err="1">
                <a:latin typeface="Meiryo UI"/>
              </a:rPr>
              <a:t>マイページで申込状況・キャンセル待ち順位を確認し、必要に応じてキャンセル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 err="1">
                <a:latin typeface="Meiryo UI"/>
              </a:rPr>
              <a:t>お気に入り登録・コメント：</a:t>
            </a:r>
            <a:r>
              <a:rPr sz="1800" b="0" dirty="0" err="1">
                <a:latin typeface="Meiryo UI"/>
              </a:rPr>
              <a:t>気になるイベントをお気に入り登録してまとめて確認、イベントごとにコメントを投稿・返信</a:t>
            </a:r>
            <a:endParaRPr sz="1800" b="0" dirty="0">
              <a:latin typeface="Meiryo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eiryo UI"/>
              </a:rPr>
              <a:t>3．機能一覧（管理者向け）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b="1" dirty="0" err="1">
                <a:latin typeface="Meiryo UI"/>
              </a:rPr>
              <a:t>イベントの管理：</a:t>
            </a:r>
            <a:r>
              <a:rPr sz="1800" b="0" dirty="0" err="1">
                <a:latin typeface="Meiryo UI"/>
              </a:rPr>
              <a:t>新規登録・編集・削除（削除しても復元可能</a:t>
            </a:r>
            <a:r>
              <a:rPr sz="1800" b="0" dirty="0">
                <a:latin typeface="Meiryo UI"/>
              </a:rPr>
              <a:t>）、</a:t>
            </a:r>
            <a:r>
              <a:rPr sz="1800" b="0" dirty="0" err="1">
                <a:latin typeface="Meiryo UI"/>
              </a:rPr>
              <a:t>既存イベントを複製して流用登録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 err="1">
                <a:latin typeface="Meiryo UI"/>
              </a:rPr>
              <a:t>当日運営：</a:t>
            </a:r>
            <a:r>
              <a:rPr sz="1800" b="0" dirty="0" err="1">
                <a:latin typeface="Meiryo UI"/>
              </a:rPr>
              <a:t>当日の申込者一覧を確認しながら受付（チェックイン</a:t>
            </a:r>
            <a:r>
              <a:rPr sz="1800" b="0" dirty="0">
                <a:latin typeface="Meiryo UI"/>
              </a:rPr>
              <a:t>）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 err="1">
                <a:latin typeface="Meiryo UI"/>
              </a:rPr>
              <a:t>実績の確認・出力：</a:t>
            </a:r>
            <a:r>
              <a:rPr sz="1800" b="0" dirty="0" err="1">
                <a:latin typeface="Meiryo UI"/>
              </a:rPr>
              <a:t>イベントごとの受付数・充足率を確認し、申込明細をCSVで出力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 err="1">
                <a:latin typeface="Meiryo UI"/>
              </a:rPr>
              <a:t>利用者・コメントの管理：</a:t>
            </a:r>
            <a:r>
              <a:rPr sz="1800" b="0" dirty="0" err="1">
                <a:latin typeface="Meiryo UI"/>
              </a:rPr>
              <a:t>利用者一覧・個々の利用者の利用状況を確認、不適切なコメントの削除、管理者アカウントの追加登録や権限変更</a:t>
            </a:r>
            <a:endParaRPr sz="1800" b="0" dirty="0">
              <a:latin typeface="Meiryo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3FA9D9-0895-5614-CD7B-8957E08D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000">
                <a:latin typeface="Meiryo UI"/>
              </a:rPr>
              <a:t>4．画面構成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5B2573-0F6C-BA06-1BB1-706000A01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1800" b="1" dirty="0">
                <a:latin typeface="Meiryo UI"/>
              </a:rPr>
              <a:t>一般利用者向け画面：</a:t>
            </a:r>
            <a:r>
              <a:rPr sz="1800" b="0" dirty="0">
                <a:latin typeface="Meiryo UI"/>
              </a:rPr>
              <a:t>ログイン／利用者登録、イベント一覧・検索・カレンダー表示、イベント詳細・申込、申込完了、マイページ（申込一覧・お気に入り）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 err="1">
                <a:latin typeface="Meiryo UI"/>
              </a:rPr>
              <a:t>管理者向け画面：</a:t>
            </a:r>
            <a:r>
              <a:rPr sz="1800" b="0" dirty="0" err="1">
                <a:latin typeface="Meiryo UI"/>
              </a:rPr>
              <a:t>管理者ダッシュボード、イベント管理（登録・編集</a:t>
            </a:r>
            <a:r>
              <a:rPr sz="1800" b="0" dirty="0">
                <a:latin typeface="Meiryo UI"/>
              </a:rPr>
              <a:t>）、</a:t>
            </a:r>
            <a:r>
              <a:rPr sz="1800" b="0" dirty="0" err="1">
                <a:latin typeface="Meiryo UI"/>
              </a:rPr>
              <a:t>削除済みイベント一覧、当日受付、申込状況・実績、利用者管理（一覧・詳細</a:t>
            </a:r>
            <a:r>
              <a:rPr sz="1800" b="0" dirty="0">
                <a:latin typeface="Meiryo UI"/>
              </a:rPr>
              <a:t>）、</a:t>
            </a:r>
            <a:r>
              <a:rPr sz="1800" b="0" dirty="0" err="1">
                <a:latin typeface="Meiryo UI"/>
              </a:rPr>
              <a:t>コメントモデレーション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 err="1">
                <a:latin typeface="Meiryo UI"/>
              </a:rPr>
              <a:t>画面遷移：</a:t>
            </a:r>
            <a:r>
              <a:rPr sz="1800" b="0" dirty="0" err="1">
                <a:latin typeface="Meiryo UI"/>
              </a:rPr>
              <a:t>Angular</a:t>
            </a:r>
            <a:r>
              <a:rPr sz="1800" b="0" dirty="0">
                <a:latin typeface="Meiryo UI"/>
              </a:rPr>
              <a:t> </a:t>
            </a:r>
            <a:r>
              <a:rPr sz="1800" b="0" dirty="0" err="1">
                <a:latin typeface="Meiryo UI"/>
              </a:rPr>
              <a:t>Routerによるクライアントサイド遷移。画面を切り替えてもページ全体の再読み込みは発生しない</a:t>
            </a:r>
            <a:endParaRPr sz="1800" b="0" dirty="0">
              <a:latin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4275945513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eiryo UI"/>
              </a:rPr>
              <a:t>画面キャプチャ（例）</a:t>
            </a:r>
          </a:p>
        </p:txBody>
      </p:sp>
      <p:pic>
        <p:nvPicPr>
          <p:cNvPr id="3" name="Picture 2" descr="SC-01_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822" y="1828800"/>
            <a:ext cx="3833835" cy="192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779040"/>
            <a:ext cx="54102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Meiryo UI"/>
              </a:rPr>
              <a:t>ログイン画面</a:t>
            </a:r>
          </a:p>
        </p:txBody>
      </p:sp>
      <p:pic>
        <p:nvPicPr>
          <p:cNvPr id="5" name="Picture 4" descr="SC-02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820" y="1828800"/>
            <a:ext cx="414288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33160" y="3779040"/>
            <a:ext cx="54102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Meiryo UI"/>
              </a:rPr>
              <a:t>イベント一覧画面</a:t>
            </a:r>
          </a:p>
        </p:txBody>
      </p:sp>
      <p:pic>
        <p:nvPicPr>
          <p:cNvPr id="7" name="Picture 6" descr="SC-06_application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456" y="4251960"/>
            <a:ext cx="3730567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02200"/>
            <a:ext cx="54102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Meiryo UI"/>
              </a:rPr>
              <a:t>マイページ（申込一覧）</a:t>
            </a:r>
          </a:p>
        </p:txBody>
      </p:sp>
      <p:pic>
        <p:nvPicPr>
          <p:cNvPr id="9" name="Picture 8" descr="SC-07_dashbo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0800" y="4251960"/>
            <a:ext cx="4154919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33160" y="6202200"/>
            <a:ext cx="54102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Meiryo UI"/>
              </a:rPr>
              <a:t>管理者ダッシュボード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07D8ED-05F5-BD80-50B5-05228E642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5．アーキテクチャ・技術スタック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74A595-0AA3-6E58-5E1F-1C56DCE2B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1800" b="1" dirty="0">
                <a:latin typeface="Meiryo UI"/>
              </a:rPr>
              <a:t>3層構成：</a:t>
            </a:r>
            <a:r>
              <a:rPr sz="1800" b="0" dirty="0">
                <a:latin typeface="Meiryo UI"/>
              </a:rPr>
              <a:t>Angular（ブラウザ側の画面）→ Spring </a:t>
            </a:r>
            <a:r>
              <a:rPr sz="1800" b="0" dirty="0" err="1">
                <a:latin typeface="Meiryo UI"/>
              </a:rPr>
              <a:t>Boot（サーバー側のAPI</a:t>
            </a:r>
            <a:r>
              <a:rPr sz="1800" b="0" dirty="0">
                <a:latin typeface="Meiryo UI"/>
              </a:rPr>
              <a:t>）→ </a:t>
            </a:r>
            <a:r>
              <a:rPr sz="1800" b="0" dirty="0" err="1">
                <a:latin typeface="Meiryo UI"/>
              </a:rPr>
              <a:t>MySQL（データベース</a:t>
            </a:r>
            <a:r>
              <a:rPr sz="1800" b="0" dirty="0">
                <a:latin typeface="Meiryo UI"/>
              </a:rPr>
              <a:t>）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 err="1">
                <a:latin typeface="Meiryo UI"/>
              </a:rPr>
              <a:t>技術スタック：</a:t>
            </a:r>
            <a:r>
              <a:rPr sz="1800" b="0" dirty="0" err="1">
                <a:latin typeface="Meiryo UI"/>
              </a:rPr>
              <a:t>Angular</a:t>
            </a:r>
            <a:r>
              <a:rPr sz="1800" b="0" dirty="0">
                <a:latin typeface="Meiryo UI"/>
              </a:rPr>
              <a:t> </a:t>
            </a:r>
            <a:r>
              <a:rPr sz="1800" b="0" dirty="0" err="1">
                <a:latin typeface="Meiryo UI"/>
              </a:rPr>
              <a:t>Router（画面遷移を全てブラウザ側で行うSPA構成</a:t>
            </a:r>
            <a:r>
              <a:rPr sz="1800" b="0" dirty="0">
                <a:latin typeface="Meiryo UI"/>
              </a:rPr>
              <a:t>）／</a:t>
            </a:r>
            <a:r>
              <a:rPr sz="1800" b="0" dirty="0" err="1">
                <a:latin typeface="Meiryo UI"/>
              </a:rPr>
              <a:t>Controller・Service・Repositoryで役割を分けたバックエンド構成／REST</a:t>
            </a:r>
            <a:r>
              <a:rPr sz="1800" b="0" dirty="0">
                <a:latin typeface="Meiryo UI"/>
              </a:rPr>
              <a:t> API 34本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 err="1">
                <a:latin typeface="Meiryo UI"/>
              </a:rPr>
              <a:t>独自の工夫：</a:t>
            </a:r>
            <a:r>
              <a:rPr sz="1800" b="0" dirty="0" err="1">
                <a:latin typeface="Meiryo UI"/>
              </a:rPr>
              <a:t>キャンセル待ち・同時申込の排他制御</a:t>
            </a:r>
            <a:endParaRPr sz="1800" b="0" dirty="0">
              <a:latin typeface="Meiryo UI"/>
            </a:endParaRPr>
          </a:p>
          <a:p>
            <a:pPr lvl="1"/>
            <a:r>
              <a:rPr sz="1800" b="0" dirty="0" err="1">
                <a:latin typeface="Meiryo UI"/>
              </a:rPr>
              <a:t>定員超過時はエラーにせず自動でキャンセル待ちに登録</a:t>
            </a:r>
            <a:endParaRPr sz="1800" b="0" dirty="0">
              <a:latin typeface="Meiryo UI"/>
            </a:endParaRPr>
          </a:p>
          <a:p>
            <a:pPr lvl="1"/>
            <a:r>
              <a:rPr sz="1800" b="0" dirty="0" err="1">
                <a:latin typeface="Meiryo UI"/>
              </a:rPr>
              <a:t>キャンセルが出たら、最も古いキャンセル待ちを自動で繰り上げ</a:t>
            </a:r>
            <a:endParaRPr sz="1800" b="0" dirty="0">
              <a:latin typeface="Meiryo UI"/>
            </a:endParaRPr>
          </a:p>
          <a:p>
            <a:pPr lvl="1"/>
            <a:r>
              <a:rPr sz="1800" b="0" dirty="0" err="1">
                <a:latin typeface="Meiryo UI"/>
              </a:rPr>
              <a:t>複数人が同時に申込んでも定員を超えないよう、データベースの行ロック（悲観ロック）で処理を直列化</a:t>
            </a:r>
            <a:endParaRPr sz="1800" b="0" dirty="0">
              <a:latin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601066189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eiryo UI"/>
              </a:rPr>
              <a:t>アーキテクチャ構成図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3017520" cy="1463040"/>
          </a:xfrm>
          <a:prstGeom prst="roundRect">
            <a:avLst/>
          </a:prstGeom>
          <a:solidFill>
            <a:srgbClr val="DCEEF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E2841"/>
                </a:solidFill>
                <a:latin typeface="Meiryo UI"/>
              </a:rPr>
              <a:t>Angular</a:t>
            </a:r>
          </a:p>
          <a:p>
            <a:pPr algn="ctr"/>
            <a:r>
              <a:rPr sz="1200">
                <a:solidFill>
                  <a:srgbClr val="0E2841"/>
                </a:solidFill>
                <a:latin typeface="Meiryo UI"/>
              </a:rPr>
              <a:t>ブラウザ側の画面（SPA）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665220" y="2331720"/>
            <a:ext cx="822960" cy="457200"/>
          </a:xfrm>
          <a:prstGeom prst="rightArrow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9090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E2841"/>
                </a:solidFill>
                <a:latin typeface="Meiryo UI"/>
              </a:rPr>
              <a:t>REST API
(JSON)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87240" y="1828800"/>
            <a:ext cx="3017520" cy="1463040"/>
          </a:xfrm>
          <a:prstGeom prst="roundRect">
            <a:avLst/>
          </a:prstGeom>
          <a:solidFill>
            <a:srgbClr val="DCEEF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E2841"/>
                </a:solidFill>
                <a:latin typeface="Meiryo UI"/>
              </a:rPr>
              <a:t>Spring Boot</a:t>
            </a:r>
          </a:p>
          <a:p>
            <a:pPr algn="ctr"/>
            <a:r>
              <a:rPr sz="1200">
                <a:solidFill>
                  <a:srgbClr val="0E2841"/>
                </a:solidFill>
                <a:latin typeface="Meiryo UI"/>
              </a:rPr>
              <a:t>サーバー側のAPI
(Controller/Service/Repository)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703820" y="2331720"/>
            <a:ext cx="822960" cy="457200"/>
          </a:xfrm>
          <a:prstGeom prst="rightArrow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E2841"/>
                </a:solidFill>
                <a:latin typeface="Meiryo UI"/>
              </a:rPr>
              <a:t>悲観ロックで
排他制御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25840" y="1828800"/>
            <a:ext cx="3017520" cy="1463040"/>
          </a:xfrm>
          <a:prstGeom prst="roundRect">
            <a:avLst/>
          </a:prstGeom>
          <a:solidFill>
            <a:srgbClr val="DCEEF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E2841"/>
                </a:solidFill>
                <a:latin typeface="Meiryo UI"/>
              </a:rPr>
              <a:t>MySQL</a:t>
            </a:r>
          </a:p>
          <a:p>
            <a:pPr algn="ctr"/>
            <a:r>
              <a:rPr sz="1200">
                <a:solidFill>
                  <a:srgbClr val="0E2841"/>
                </a:solidFill>
                <a:latin typeface="Meiryo UI"/>
              </a:rPr>
              <a:t>データベース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1109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E2841"/>
                </a:solidFill>
                <a:latin typeface="Meiryo UI"/>
              </a:rPr>
              <a:t>複数人が同時に申込んでも定員を超えないよう、申込・キャンセル時にデータベースの行ロック（SELECT...FOR UPDATE）で処理を直列化し、定員超過時はキャンセル待ちへ自動登録、キャンセル発生時は最古のキャンセル待ちを自動繰り上げる。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6C4715-F1BF-BB72-3397-4F4F31C1B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6．開発体制・進め方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226335-BC76-CCB3-390C-0D2CC8C6B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1800" b="1" dirty="0">
                <a:latin typeface="Meiryo UI"/>
              </a:rPr>
              <a:t>体制：</a:t>
            </a:r>
            <a:r>
              <a:rPr sz="1800" b="0" dirty="0">
                <a:latin typeface="Meiryo UI"/>
              </a:rPr>
              <a:t>チーム開発演習の教材として、単独（1名）で実施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>
                <a:latin typeface="Meiryo UI"/>
              </a:rPr>
              <a:t>進め方：</a:t>
            </a:r>
            <a:r>
              <a:rPr sz="1800" b="0" dirty="0">
                <a:latin typeface="Meiryo UI"/>
              </a:rPr>
              <a:t>要件・設計の検討からレビュー判断まではご本人が担当し、実装・コーディングやGit操作（コミット・push等）はAIが実行、差分内容の確認・レビューはご本人が実施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 err="1">
                <a:latin typeface="Meiryo UI"/>
              </a:rPr>
              <a:t>進捗管理：</a:t>
            </a:r>
            <a:r>
              <a:rPr sz="1800" b="0" dirty="0" err="1">
                <a:latin typeface="Meiryo UI"/>
              </a:rPr>
              <a:t>WBSを作成し、要件・設計／実装／テスト／レビュー振り返りの工程ごとに進捗を管理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>
                <a:latin typeface="Meiryo UI"/>
              </a:rPr>
              <a:t>作業期間：</a:t>
            </a:r>
            <a:r>
              <a:rPr sz="1800" b="0" dirty="0">
                <a:latin typeface="Meiryo UI"/>
              </a:rPr>
              <a:t>実働16日（1日あたり5〜6時間）</a:t>
            </a:r>
          </a:p>
        </p:txBody>
      </p:sp>
    </p:spTree>
    <p:extLst>
      <p:ext uri="{BB962C8B-B14F-4D97-AF65-F5344CB8AC3E}">
        <p14:creationId xmlns:p14="http://schemas.microsoft.com/office/powerpoint/2010/main" val="318761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7069BC-BC92-8231-DD7D-304BA660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7．苦労した点・工夫した点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AB93D2-3C3B-FAD0-9601-0A976B138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1800" b="1" dirty="0">
                <a:latin typeface="Meiryo UI"/>
              </a:rPr>
              <a:t>大きな手戻り：</a:t>
            </a:r>
            <a:r>
              <a:rPr sz="1800" b="0" dirty="0">
                <a:latin typeface="Meiryo UI"/>
              </a:rPr>
              <a:t>当初はチーム基準（40.5時間）と同程度の時間で終えられるかを試す狙いだったが、単独でも同程度の工数（実績80〜96時間）が必要と判明。この気づきを受けて機能追加や設計書の見直しを行った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>
                <a:latin typeface="Meiryo UI"/>
              </a:rPr>
              <a:t>軽微な手戻り：</a:t>
            </a:r>
            <a:r>
              <a:rPr sz="1800" b="0" dirty="0">
                <a:latin typeface="Meiryo UI"/>
              </a:rPr>
              <a:t>コード内のコメントに書かれていたAPI番号の表記が設計書の番号と合っていなかった点、使われていないコードが残っていた点を見つけて修正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>
                <a:latin typeface="Meiryo UI"/>
              </a:rPr>
              <a:t>気づき・工夫：</a:t>
            </a:r>
            <a:r>
              <a:rPr sz="1800" b="0" dirty="0">
                <a:latin typeface="Meiryo UI"/>
              </a:rPr>
              <a:t>AIが作ったコードは見た目が整っていても意図通りとは限らないため、1つの依頼ごとに成果物を確認する「1プロンプト1レビュー」</a:t>
            </a:r>
            <a:r>
              <a:rPr sz="1800" b="0" dirty="0" err="1">
                <a:latin typeface="Meiryo UI"/>
              </a:rPr>
              <a:t>を徹底することで手戻りを抑えた</a:t>
            </a:r>
            <a:endParaRPr sz="1800" b="0" dirty="0">
              <a:latin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302776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9C4694-C746-C5A8-8691-C7851CA02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8．AI利用効果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553C9B-A5C3-9F46-734A-30FF07CF4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1800" b="1" dirty="0">
                <a:latin typeface="Meiryo UI"/>
              </a:rPr>
              <a:t>工数：</a:t>
            </a:r>
            <a:r>
              <a:rPr sz="1800" b="0" dirty="0">
                <a:latin typeface="Meiryo UI"/>
              </a:rPr>
              <a:t>チーム基準40.5時間 vs 実績80〜96時間</a:t>
            </a:r>
          </a:p>
          <a:p>
            <a:pPr lvl="1"/>
            <a:r>
              <a:rPr sz="1800" b="0" dirty="0">
                <a:latin typeface="Meiryo UI"/>
              </a:rPr>
              <a:t>単純比較：約2.0〜2.4倍</a:t>
            </a:r>
          </a:p>
          <a:p>
            <a:pPr lvl="1"/>
            <a:r>
              <a:rPr sz="1800" b="0" dirty="0">
                <a:latin typeface="Meiryo UI"/>
              </a:rPr>
              <a:t>人時換算（40.5時間×4〜6人＝162〜243人時）：単独はその約33〜59%で完了</a:t>
            </a:r>
          </a:p>
          <a:p>
            <a:br>
              <a:rPr lang="en-US" sz="1800" b="1" dirty="0">
                <a:latin typeface="Meiryo UI"/>
              </a:rPr>
            </a:br>
            <a:r>
              <a:rPr sz="1800" b="1" dirty="0">
                <a:latin typeface="Meiryo UI"/>
              </a:rPr>
              <a:t>手戻り：</a:t>
            </a:r>
            <a:r>
              <a:rPr sz="1800" b="0" dirty="0">
                <a:latin typeface="Meiryo UI"/>
              </a:rPr>
              <a:t>前スライドの2件（構造的な手戻り1件・軽微な手戻り2件）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>
                <a:latin typeface="Meiryo UI"/>
              </a:rPr>
              <a:t>品質：</a:t>
            </a:r>
            <a:r>
              <a:rPr sz="1800" b="0" dirty="0">
                <a:latin typeface="Meiryo UI"/>
              </a:rPr>
              <a:t>自動テスト計107件（バックエンド）＋42件（フロントエンド）、</a:t>
            </a:r>
            <a:r>
              <a:rPr sz="1800" b="0" dirty="0" err="1">
                <a:latin typeface="Meiryo UI"/>
              </a:rPr>
              <a:t>全件成功</a:t>
            </a:r>
            <a:endParaRPr sz="1800" b="0" dirty="0">
              <a:latin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2745318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06964E-5063-08D3-8565-EF38DD097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9．まとめ・今後の展望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ACEB13-6054-8140-B9B4-84371EEDB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1800" b="1" dirty="0">
                <a:latin typeface="Meiryo UI"/>
              </a:rPr>
              <a:t>実装範囲：</a:t>
            </a:r>
            <a:r>
              <a:rPr sz="1800" b="0" dirty="0">
                <a:latin typeface="Meiryo UI"/>
              </a:rPr>
              <a:t>一般利用者向け機能（イベント検索・申込・お気に入り・コメント等）と管理者向け機能（イベント管理・当日受付・実績出力・利用者管理等）を一通り実装</a:t>
            </a:r>
            <a:br>
              <a:rPr lang="en-US" sz="1800" b="0" dirty="0">
                <a:latin typeface="Meiryo UI"/>
              </a:rPr>
            </a:br>
            <a:endParaRPr sz="1800" b="0" dirty="0">
              <a:latin typeface="Meiryo UI"/>
            </a:endParaRPr>
          </a:p>
          <a:p>
            <a:r>
              <a:rPr sz="1800" b="1" dirty="0" err="1">
                <a:latin typeface="Meiryo UI"/>
              </a:rPr>
              <a:t>今後の課題：</a:t>
            </a:r>
            <a:r>
              <a:rPr sz="1800" b="0" dirty="0" err="1">
                <a:latin typeface="Meiryo UI"/>
              </a:rPr>
              <a:t>設計書で「今後の対応」とされている事項</a:t>
            </a:r>
            <a:endParaRPr sz="1800" b="0" dirty="0">
              <a:latin typeface="Meiryo UI"/>
            </a:endParaRPr>
          </a:p>
          <a:p>
            <a:pPr lvl="1"/>
            <a:r>
              <a:rPr sz="1800" b="0" dirty="0" err="1">
                <a:latin typeface="Meiryo UI"/>
              </a:rPr>
              <a:t>認証エラー時の自動ログアウト・自動遷移</a:t>
            </a:r>
            <a:endParaRPr sz="1800" b="0" dirty="0">
              <a:latin typeface="Meiryo UI"/>
            </a:endParaRPr>
          </a:p>
          <a:p>
            <a:pPr lvl="1"/>
            <a:r>
              <a:rPr sz="1800" b="0" dirty="0" err="1">
                <a:latin typeface="Meiryo UI"/>
              </a:rPr>
              <a:t>エラーレスポンスへのエラーコード付与</a:t>
            </a:r>
            <a:endParaRPr sz="1800" b="0" dirty="0">
              <a:latin typeface="Meiryo UI"/>
            </a:endParaRPr>
          </a:p>
          <a:p>
            <a:pPr lvl="1"/>
            <a:r>
              <a:rPr sz="1800" b="0" dirty="0" err="1">
                <a:latin typeface="Meiryo UI"/>
              </a:rPr>
              <a:t>応答性能等の数値目標設定、ログのファイル出力、バックアップ方針の策定</a:t>
            </a:r>
            <a:endParaRPr sz="1800" b="0" dirty="0">
              <a:latin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86676366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eiryo UI"/>
              </a:rPr>
              <a:t>目次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 b="0">
                <a:latin typeface="Meiryo UI"/>
              </a:rPr>
              <a:t>1．目的・利用者像</a:t>
            </a:r>
          </a:p>
          <a:p>
            <a:pPr/>
            <a:r>
              <a:rPr sz="1800" b="0">
                <a:latin typeface="Meiryo UI"/>
              </a:rPr>
              <a:t>2．機能一覧（一般利用者向け）</a:t>
            </a:r>
          </a:p>
          <a:p>
            <a:pPr/>
            <a:r>
              <a:rPr sz="1800" b="0">
                <a:latin typeface="Meiryo UI"/>
              </a:rPr>
              <a:t>3．機能一覧（管理者向け）</a:t>
            </a:r>
          </a:p>
          <a:p>
            <a:pPr/>
            <a:r>
              <a:rPr sz="1800" b="0">
                <a:latin typeface="Meiryo UI"/>
              </a:rPr>
              <a:t>4．画面構成</a:t>
            </a:r>
          </a:p>
          <a:p>
            <a:pPr/>
            <a:r>
              <a:rPr sz="1800" b="0">
                <a:latin typeface="Meiryo UI"/>
              </a:rPr>
              <a:t>5．アーキテクチャ・技術スタック</a:t>
            </a:r>
          </a:p>
          <a:p>
            <a:pPr/>
            <a:r>
              <a:rPr sz="1800" b="0">
                <a:latin typeface="Meiryo UI"/>
              </a:rPr>
              <a:t>6．開発体制・進め方</a:t>
            </a:r>
          </a:p>
          <a:p>
            <a:pPr/>
            <a:r>
              <a:rPr sz="1800" b="0">
                <a:latin typeface="Meiryo UI"/>
              </a:rPr>
              <a:t>7．苦労した点・工夫した点</a:t>
            </a:r>
          </a:p>
          <a:p>
            <a:pPr/>
            <a:r>
              <a:rPr sz="1800" b="0">
                <a:latin typeface="Meiryo UI"/>
              </a:rPr>
              <a:t>8．AI利用効果</a:t>
            </a:r>
          </a:p>
          <a:p>
            <a:pPr/>
            <a:r>
              <a:rPr sz="1800" b="0">
                <a:latin typeface="Meiryo UI"/>
              </a:rPr>
              <a:t>9．まとめ・今後の展望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2AB853B196F794D8522E079E5062DE1" ma:contentTypeVersion="10" ma:contentTypeDescription="新しいドキュメントを作成します。" ma:contentTypeScope="" ma:versionID="f5519c8ad0001dc1944c7d5117d6ef1e">
  <xsd:schema xmlns:xsd="http://www.w3.org/2001/XMLSchema" xmlns:xs="http://www.w3.org/2001/XMLSchema" xmlns:p="http://schemas.microsoft.com/office/2006/metadata/properties" xmlns:ns2="e8d6e06c-e60e-47a7-a324-5df51f361a1d" xmlns:ns3="0eb4123e-ff08-448a-a51c-d574d85865b6" targetNamespace="http://schemas.microsoft.com/office/2006/metadata/properties" ma:root="true" ma:fieldsID="6b6fc7ab0c5db989cb71f9aed3612649" ns2:_="" ns3:_="">
    <xsd:import namespace="e8d6e06c-e60e-47a7-a324-5df51f361a1d"/>
    <xsd:import namespace="0eb4123e-ff08-448a-a51c-d574d85865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d6e06c-e60e-47a7-a324-5df51f361a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8ae29c59-cffc-49bc-b1b2-82d81727b3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b4123e-ff08-448a-a51c-d574d85865b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17f6a86-eb1c-4018-be3f-ff946cbc1596}" ma:internalName="TaxCatchAll" ma:showField="CatchAllData" ma:web="0eb4123e-ff08-448a-a51c-d574d85865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b4123e-ff08-448a-a51c-d574d85865b6" xsi:nil="true"/>
    <lcf76f155ced4ddcb4097134ff3c332f xmlns="e8d6e06c-e60e-47a7-a324-5df51f361a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C289C11-7EAA-4243-ADB3-C37FD36E2A2A}"/>
</file>

<file path=customXml/itemProps2.xml><?xml version="1.0" encoding="utf-8"?>
<ds:datastoreItem xmlns:ds="http://schemas.openxmlformats.org/officeDocument/2006/customXml" ds:itemID="{EE25F1A4-091D-4A43-8F3C-00DF3549DFFB}"/>
</file>

<file path=customXml/itemProps3.xml><?xml version="1.0" encoding="utf-8"?>
<ds:datastoreItem xmlns:ds="http://schemas.openxmlformats.org/officeDocument/2006/customXml" ds:itemID="{919722DA-CFFF-4B17-A9EE-B16584491C0E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491</Words>
  <Application>Microsoft Office PowerPoint</Application>
  <PresentationFormat>ワイド画面</PresentationFormat>
  <Paragraphs>51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Meiryo UI</vt:lpstr>
      <vt:lpstr>游ゴシック</vt:lpstr>
      <vt:lpstr>游ゴシック Light</vt:lpstr>
      <vt:lpstr>Arial</vt:lpstr>
      <vt:lpstr>Office テーマ</vt:lpstr>
      <vt:lpstr>イベント申込システム　成果発表</vt:lpstr>
      <vt:lpstr>目的・利用者像</vt:lpstr>
      <vt:lpstr>機能一覧（一般利用者向け）</vt:lpstr>
      <vt:lpstr>機能一覧（管理者向け）</vt:lpstr>
      <vt:lpstr>画面構成</vt:lpstr>
      <vt:lpstr>アーキテクチャ・技術スタック</vt:lpstr>
      <vt:lpstr>開発体制・進め方</vt:lpstr>
      <vt:lpstr>苦労した点・工夫した点</vt:lpstr>
      <vt:lpstr>AI利用効果</vt:lpstr>
      <vt:lpstr>まとめ・今後の展望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佐々木 健成</dc:creator>
  <cp:lastModifiedBy>佐々木 健成</cp:lastModifiedBy>
  <cp:revision>3</cp:revision>
  <dcterms:created xsi:type="dcterms:W3CDTF">2026-10-02T00:38:56Z</dcterms:created>
  <dcterms:modified xsi:type="dcterms:W3CDTF">2026-10-02T03:04:31Z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0x01010012AB853B196F794D8522E079E5062DE1</vt:lpwstr>
  </property>
</Properties>
</file>