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それでは、イベント申込システムの成果発表を始めます。佐々木です。
このシステムは、イベントの募集から申込、当日の受付、実績の集計までを、1つにまとめたWebアプリケーションです。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本日は2部構成でお話しします。
第1部では、作ったシステムの目的や機能、仕組み、品質を紹介し、途中で実際の画面をお見せします。
第2部では、開発の進め方や苦労した点、AIを使った効果、学んだことを振り返ります。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まず目的です。
サークルなどでイベントを運営するとき、申込を紙やメール、表計算で管理していると、残り枠がすぐに分からない、キャンセル待ちの繰り上げを手作業で行う、当日の受付や実績の集計に時間がかかる、といった課題があります。
そこで、これらを1つのシステムでまとめて管理できるようにしました。
利用者は、イベントを探して申し込む「一般利用者」と、イベントを企画・運営する「管理者」の2種類です。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一般利用者の機能です。
イベントは一覧とカレンダーの2通りで表示でき、キーワードや開催日で検索できます。開催済みのイベントは一覧の最後に回し、これから参加できるものを先に見られるようにしています。
申込は、参加区分やアンケートがあるイベントにも対応しています。
特徴は右下の「満員でも断らない」点です。定員に達していてもエラーにせず、キャンセル待ちとして受け付けます。申込の状況やキャンセル待ちの順番は、マイページで確認できます。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管理者の機能です。
ダッシュボードで全体の件数を確認し、イベントの登録や編集を行います。過去のイベントを複製して登録することもでき、誤って削除しても後から復元できます。
イベント当日は、申込者の一覧を見ながらチェックインを行い、終わった後は受付数や充足率を確認して、申込の明細をCSVで出力できます。
管理者向けの画面とAPIは、画面とサーバーの両方で、管理者しか使えないように制御しています。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画面は全部で17あります。一般利用者向けが7画面、管理者向けが9画面、存在しないURLを開いたときの画面が1つです。
画面を切り替えてもページ全体を読み込み直さない作り、いわゆるSPAにしているため、操作の途中で画面が白く点滅することはありません。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実際の画面の例です。
左上はイベント一覧のカレンダー表示で、日付のマスにその日のイベントが表示されます。右上はイベント詳細で、残り枠や申込締切を確認して申し込みます。
下の2枚は管理者の画面で、左がダッシュボード、右がイベントごとの受付数と充足率を一覧にした、申込状況・実績の画面です。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システムの構成です。
画面はAngular、サーバーはSpring Boot、データベースはMySQLの3層構成で、画面とサーバーはJSON形式でやり取りします。
サーバーの中は、リクエストを受け取るController、業務のルールを判定するService、データベースを読み書きするRepositoryの3つに役割を分けています。
規模は、機能が19、画面が17、APIが35本、テーブルが8つです。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特に工夫した仕組みを4つ紹介します。
1つ目はキャンセル待ちの自動繰り上げです。キャンセルが出ると、最も早く申し込んだ人が自動で受付済になります。
2つ目は同時申込への対策です。残り1枠に2人が同時に申し込むと、2人とも受付済になるおそれがあるため、データベースの行をロックして1件ずつ処理しています。
3つ目はログインです。パスワードは元に戻せない形で保存し、ログインに失敗したときも、メールアドレスとパスワードのどちらが違うかは伝えないようにしています。
4つ目は、削除したイベントを復元できること、退会しても申込の履歴が残ることです。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品質の確保についてです。
設計書は、要件定義、基本設計、詳細設計の3段階で、合わせて10冊作りました。
テストも単体、結合、総合の3段階に分け、合計616件をすべて実施し、合格しています。
自動テストはすべて成功していましたが、実際に画面やAPIを手で操作するテストで、左下の3件の不具合が見つかりました。いずれも修正し、再テストで合格しています。
それでは、実際の画面をお見せします。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【デモ：2分程度】
① 一般ユーザー（general@example.com／Test1234）でログインする。イベント一覧をカレンダー表示に切り替え、イベント検索でキーワードを入れて絞り込む。
② 受付中のイベントの詳細を開いて申し込み、申込完了画面からマイページへ移り、「受付済」になっていることを見せる。
③ ログアウトし、管理者（admin@example.com／Test1234）でログインする。イベント管理で先ほどのイベントの「受付」を押し、申込をチェックインする。
④ 申込状況・実績で受付数・充足率を確認し、CSVをダウンロードする。
（終わったら）以上がデモです。ここからは、開発の振り返りをお話しします。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開発の進め方です。
開発は、私1人とAIで行いました。要件や設計の判断、AIが作ったもののレビュー、動作確認やテストの実施は自分で行い、実装とGitの操作はAIが担当しました。
期間は実働22日、1日あたり4〜6時間です。最初の約7日で一通り完成しましたが、その後の約11日は、要件定義から見直して設計書と実装を直す期間になりました。最後の約5日でテストを行いました。進捗は、WBSでフェーズごとに管理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苦労した点は2つです。
1つ目は、設計書に何が必要なのかが分からなかったことです。何を書けばよいのかがつかめないまま進めていたため、レビューで指摘を受け、要件定義書から見直して設計書を作り直しました。この見直しに約11日かかりました。
2つ目は、コードのレビューと理解です。もともとコードには苦手意識があり、AIが書いたコードを確認するのに苦労しました。そこで、AIにコードの解説をしてもらい、それを参考にしながら、少しずつ理解できるようにしていきました。
ほかにも、自動テストはすべて成功していたのに、手動のテストで不具合が3件見つかり、修正しました。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AIを使った効果です。比べる基準は、教材が想定しているチームでの開発時間、40.5時間です。
最初に一通り完成するまでは約7日、時間にすると28〜42時間で、チーム基準とほぼ同じでした。
ただ、見直しとテストを含めた全体では88〜132時間かかり、基準の約2.2〜3.3倍です。
一方で、4〜6人のチーム全員の作業量、162〜243人時と比べると、1人でその36〜81%で完了したことになります。
品質面では616件のテストにすべて合格し、手戻りは、要件の見直し1件と、手動テストで見つかった不具合3件でした。
（補足・質問されたら）数字に幅があるのは、1日の作業時間を4〜6時間としているためです。単純計算では、4〜6人で分担すれば1人あたり15〜33時間となり40.5時間に収まりますが、実際のチーム開発では、打ち合わせや統合、認識合わせの時間が加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学んだことは2つです。
1つ目は、コードを読む力が必要だということです。小さな修正をするときに、どうしてこうなっているのか、どこを直せばよいのかが分からないことがありました。コードが読めれば、変更の差分を見た時点で気づけることも、読めないと動作確認まで気づけず、手戻りになります。これが何度も重なると、時間がもったいないと感じました。
2つ目は、1プロンプト1レビューです。修正をまとめて依頼すると、精度が下がることがありました。依頼を絞り、1つずつ確認しながら進めることで、理想に近づけられました。
どちらにも共通するのは、AIが作ったものは、自分で確認しなければならないということです。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まとめです。一般利用者と管理者の機能を一通り実装し、616件のテストで確認しました。
今後追加したいことは4つあります。下にスクロールしてもヘッダーが見えるようにすること、イベントの件数が増えても見やすいように一覧をページで分けること、ダッシュボードのカードから各画面へ移れるようにすること、入力したパスワードを表示して確認できるようにすることです。
以上で発表を終わります。ご清聴ありがとうございました。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548640"/>
            <a:ext cx="1828800" cy="384048"/>
          </a:xfrm>
          <a:prstGeom prst="rect">
            <a:avLst/>
          </a:prstGeom>
          <a:solidFill>
            <a:srgbClr val="F2EDFC"/>
          </a:solidFill>
          <a:ln/>
        </p:spPr>
      </p:sp>
      <p:sp>
        <p:nvSpPr>
          <p:cNvPr id="3" name="Text 1"/>
          <p:cNvSpPr/>
          <p:nvPr/>
        </p:nvSpPr>
        <p:spPr>
          <a:xfrm>
            <a:off x="9829800" y="548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成果物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548640"/>
            <a:ext cx="1828800" cy="384048"/>
          </a:xfrm>
          <a:prstGeom prst="rect">
            <a:avLst/>
          </a:prstGeom>
          <a:solidFill>
            <a:srgbClr val="FEF3DC"/>
          </a:solidFill>
          <a:ln/>
        </p:spPr>
      </p:sp>
      <p:sp>
        <p:nvSpPr>
          <p:cNvPr id="3" name="Text 1"/>
          <p:cNvSpPr/>
          <p:nvPr/>
        </p:nvSpPr>
        <p:spPr>
          <a:xfrm>
            <a:off x="9829800" y="548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振り返り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6D3FD1">
              <a:alpha val="45000"/>
            </a:srgbClr>
          </a:solidFill>
          <a:ln w="12700">
            <a:solidFill>
              <a:srgbClr val="6D3FD1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58400" y="3566160"/>
            <a:ext cx="3291840" cy="3291840"/>
          </a:xfrm>
          <a:prstGeom prst="ellipse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チーム開発演習　成果発表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イベント申込システム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DE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イベントの募集から申込・当日受付・実績集計までを1つにまとめたWebアプリケーション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佐々木 健成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作ったもの（成果物）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60120" y="2880360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目的・利用者像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3319272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319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機能（一般利用者／管理者）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120" y="3758184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7581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画面構成・画面キャプチャ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60120" y="4197096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1970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システム構成と規模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60120" y="4636008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463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6360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工夫した仕組み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60120" y="5074920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074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品質の確保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60120" y="5513832"/>
            <a:ext cx="310896" cy="310896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55138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2940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62940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6675120" y="2880360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675120" y="3319272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7512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132320" y="3319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苦労した点と対応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675120" y="375818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51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132320" y="37581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AI利用効果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675120" y="4197096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132320" y="41970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学び・気づき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675120" y="4636008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463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132320" y="46360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まとめ・今後の展望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目的・利用者像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2A1B4D"/>
          </a:solidFill>
          <a:ln w="9525">
            <a:solidFill>
              <a:srgbClr val="2A1B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4173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　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イベントの募集・申込・当日受付・実績集計を、1つのシステムでまとめて管理する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解決したい課題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15468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申込状況（残り枠）がすぐに分からない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86200" y="3108960"/>
            <a:ext cx="315468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0" y="3337560"/>
            <a:ext cx="384048" cy="384048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キャンセル待ちの管理と繰り上げが手間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315468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800600"/>
            <a:ext cx="384048" cy="384048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257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当日の参加者の受付に手間がかかる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86200" y="4572000"/>
            <a:ext cx="315468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0" y="4800600"/>
            <a:ext cx="384048" cy="384048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0" y="5257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複数イベントの実績の集計に時間がかかる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52360" y="310896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266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3675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イベントを探して申し込む。お気に入りやコメントで情報を交換する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452360" y="457200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7266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5138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イベントを企画・管理し、当日の受付と実績の集計を行う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一般利用者の機能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イベントを探す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一覧／カレンダー表示、キーワード・開催日で検索。開催済みは末尾に表示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申し込む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参加区分・アンケートに対応。満員でもエラーにせずキャンセル待ちに登録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申込を管理する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マイページで申込状況・キャンセル待ちの順位を確認し、キャンセル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お気に入り・コメント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気になるイベントをお気に入り登録。イベントごとにコメントを投稿・返信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利用者登録、パスワード変更、退会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満員でも断らない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定員に達したらキャンセル待ちとして受け付け、空きが出たら自動で繰り上げる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管理者の機能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イベント数・利用者数・申込数などを一目で確認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イベント管理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登録・編集・複製。削除しても後から復元できる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当日受付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申込者一覧を見ながらチェックイン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実績の確認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受付数・充足率の確認、申込明細のCSV出力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利用者・コメント管理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利用者の詳細の確認、管理者の追加・降格、不適切なコメントの削除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3840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一般利用者とは別の画面・権限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管理者向けの画面とAPIは、管理者だけが使える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画面構成（全17画面）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754880" cy="4069080"/>
          </a:xfrm>
          <a:prstGeom prst="roundRect">
            <a:avLst>
              <a:gd name="adj" fmla="val 2697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一般利用者向け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70332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7画面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ログイン・利用者登録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8072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パスワード変更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2644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イベント一覧（一覧／カレンダー）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37216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イベント検索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41788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イベント詳細・申込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" y="46360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申込完了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68680" y="5093208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300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マイページ（申込一覧・お気に入り）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0" y="1463040"/>
            <a:ext cx="6172200" cy="4069080"/>
          </a:xfrm>
          <a:prstGeom prst="roundRect">
            <a:avLst>
              <a:gd name="adj" fmla="val 2697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0644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管理者向け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9画面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806440" y="23500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8076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管理者ダッシュボード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806440" y="28072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807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イベント管理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806440" y="32644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076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イベント登録・編集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806440" y="37216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80760" y="3611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削除済みイベント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806440" y="41788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8076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当日受付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732520" y="23500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0684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申込状況・実績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732520" y="28072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0068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利用者管理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732520" y="32644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00684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利用者詳細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732520" y="372160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06840" y="3611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コメント管理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48640" y="5715000"/>
            <a:ext cx="111099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7724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共通：</a:t>
            </a:r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該当ページなし　／　画面を切り替えても、ページ全体を再読み込みしない（SPA）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画面キャプチャ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:\Users\tk-sasaki\日本ディクス\AI駆動開発教育標準 Ver1.0 - 作業チーム\チーム開発演習_test_佐々木\event-application-system\docs\images\SC-02_calen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857" y="1353312"/>
            <a:ext cx="3427967" cy="2103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3474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イベント一覧（カレンダー表示）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172200" y="12801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c:\Users\tk-sasaki\日本ディクス\AI駆動開発教育標準 Ver1.0 - 作業チーム\チーム開発演習_test_佐々木\event-application-system\docs\images\SC-04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66" y="1353312"/>
            <a:ext cx="4586668" cy="2103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09360" y="3474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イベント詳細・申込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48640" y="388620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c:\Users\tk-sasaki\日本ディクス\AI駆動開発教育標準 Ver1.0 - 作業チーム\チーム開発演習_test_佐々木\event-application-system\docs\images\SC-07_dashboa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27" y="3959352"/>
            <a:ext cx="4550626" cy="21031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5800" y="6080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管理者ダッシュボード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172200" y="388620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c:\Users\tk-sasaki\日本ディクス\AI駆動開発教育標準 Ver1.0 - 作業チーム\チーム開発演習_test_佐々木\event-application-system\docs\images\SC-12_re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658" y="3959352"/>
            <a:ext cx="4565483" cy="21031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309360" y="6080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申込状況・実績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システム構成と規模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Angular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ブラウザで動く画面（SPA）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0" y="2651760"/>
            <a:ext cx="365760" cy="365760"/>
          </a:xfrm>
          <a:prstGeom prst="down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REST API（JSON）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サーバー側のAPI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Controller／Service／Repository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26080" y="4251960"/>
            <a:ext cx="365760" cy="365760"/>
          </a:xfrm>
          <a:prstGeom prst="down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6634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800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212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146304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60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006840" y="146304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0684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63640" y="3794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6364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en-US" sz="60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006840" y="3794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0684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6000" dirty="0"/>
          </a:p>
        </p:txBody>
      </p:sp>
      <p:sp>
        <p:nvSpPr>
          <p:cNvPr id="28" name="Text 25"/>
          <p:cNvSpPr txBox="1"/>
          <p:nvPr/>
        </p:nvSpPr>
        <p:spPr>
          <a:xfrm>
            <a:off x="900684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工夫した仕組み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83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キャンセル待ちと自動の繰り上げ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満員でもキャンセル待ちとして受け付け、キャンセルが出たら、最も早く申し込んだ人を自動で受付済にする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1783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同時申込への対策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複数人が同時に申し込んでも定員を超えないよう、データベースの行をロックして1件ずつ処理する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安全なログイン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846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パスワードは復元できない形（BCrypt）で保存。ログインに失敗した理由は区別して伝えない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38404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消しても戻せる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846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削除したイベントは後から復元できる。退会しても、申込などの履歴は残る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品質の確保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設計書（3段階・計10冊）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1冊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58568" y="2377440"/>
            <a:ext cx="155448" cy="320040"/>
          </a:xfrm>
          <a:prstGeom prst="right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23160" y="187452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基本設計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5冊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133088" y="2377440"/>
            <a:ext cx="155448" cy="320040"/>
          </a:xfrm>
          <a:prstGeom prst="right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87452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4冊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5486400" cy="2697480"/>
          </a:xfrm>
          <a:prstGeom prst="roundRect">
            <a:avLst>
              <a:gd name="adj" fmla="val 4068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手動テストで見つけた不具合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41148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存在しないURLを開くと、404ではなくシステムエラー（500）になる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参加区分の無いイベントに、他のイベントの区分で申し込めてしまう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" y="53949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申込があるイベントを、区分を変えずに編集しても保存できない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テスト（3段階）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800" y="18745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2A1B4D"/>
          </a:solidFill>
          <a:ln w="9525">
            <a:solidFill>
              <a:srgbClr val="2A1B4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2011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616件</a:t>
            </a:r>
            <a:endParaRPr lang="en-US" sz="6000" dirty="0"/>
          </a:p>
        </p:txBody>
      </p:sp>
      <p:sp>
        <p:nvSpPr>
          <p:cNvPr id="30" name="Text 27"/>
          <p:cNvSpPr txBox="1"/>
          <p:nvPr/>
        </p:nvSpPr>
        <p:spPr>
          <a:xfrm>
            <a:off x="9509760" y="2148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すべて実施し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すべて合格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DE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不具合3件は修正後の再テストで合格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0" y="3977640"/>
            <a:ext cx="5257800" cy="640080"/>
          </a:xfrm>
          <a:prstGeom prst="roundRect">
            <a:avLst>
              <a:gd name="adj" fmla="val 17143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7512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単体テスト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3977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179件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9601200" y="3977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部品ごと（自動）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0" y="4709160"/>
            <a:ext cx="5257800" cy="640080"/>
          </a:xfrm>
          <a:prstGeom prst="roundRect">
            <a:avLst>
              <a:gd name="adj" fmla="val 17143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67512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結合テスト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321040" y="4709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343件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4709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API・画面の連携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00800" y="5440680"/>
            <a:ext cx="5257800" cy="640080"/>
          </a:xfrm>
          <a:prstGeom prst="roundRect">
            <a:avLst>
              <a:gd name="adj" fmla="val 17143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総合テスト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321040" y="5440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94件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9601200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業務の流れ・非機能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FD1">
              <a:alpha val="45000"/>
            </a:srgbClr>
          </a:solidFill>
          <a:ln w="12700">
            <a:solidFill>
              <a:srgbClr val="6D3FD1">
                <a:alpha val="45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実際の画面で確認します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0" y="292608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926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イベントを探す（一覧・カレンダー・検索）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114800" y="370332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703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申し込み、マイページで状況を確認する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114800" y="44805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480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当日受付でチェックインする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114800" y="5257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5257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5257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申込状況・実績を確認し、CSVを出力する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14400" y="2340864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2240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要件・設計の判断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724912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8720" y="2624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AIの成果物のレビュー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3108960"/>
            <a:ext cx="146304" cy="146304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30083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動作確認・テストの実施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2200" y="14173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537960" y="234086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2240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実装（コーディング）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37960" y="2724912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2624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Gitの操作（コミット・push）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実働22日</a:t>
            </a:r>
            <a:pPr indent="0" marL="0">
              <a:buNone/>
            </a:pPr>
            <a:r>
              <a:rPr lang="en-US" sz="18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（1日4〜6時間）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4343400"/>
            <a:ext cx="3308140" cy="1143000"/>
          </a:xfrm>
          <a:prstGeom prst="roundRect">
            <a:avLst>
              <a:gd name="adj" fmla="val 8000"/>
            </a:avLst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434840"/>
            <a:ext cx="3033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約7日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892040"/>
            <a:ext cx="3033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開発・完成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929932" y="4343400"/>
            <a:ext cx="5240307" cy="1143000"/>
          </a:xfrm>
          <a:prstGeom prst="roundRect">
            <a:avLst>
              <a:gd name="adj" fmla="val 8000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2812" y="4434840"/>
            <a:ext cx="4965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約11日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112812" y="4892040"/>
            <a:ext cx="49659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要件定義から見直し・設計書と実装を修正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243391" y="4343400"/>
            <a:ext cx="2342057" cy="1143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26271" y="4434840"/>
            <a:ext cx="20677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約5日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426271" y="4892040"/>
            <a:ext cx="2067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テスト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進捗はWBSで、フェーズごとに管理した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苦労した点と対応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設計書に何が必要か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苦労した点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8163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設計書に何を書けばよいのか、何が必要なのかが分からなかった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08960" y="3584448"/>
            <a:ext cx="365760" cy="320040"/>
          </a:xfrm>
          <a:prstGeom prst="down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9776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37083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レビューの指摘を受け、要件定義書から見直して設計書を作り直した（約11日）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コードのレビュー・理解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492240" y="242316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084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苦労した点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28163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もともとコードに苦手意識があり、AIが書いたコードのレビュー・理解に苦労した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732520" y="3584448"/>
            <a:ext cx="365760" cy="320040"/>
          </a:xfrm>
          <a:prstGeom prst="downArrow">
            <a:avLst/>
          </a:prstGeom>
          <a:solidFill>
            <a:srgbClr val="9B7BE6"/>
          </a:solidFill>
          <a:ln w="12700">
            <a:solidFill>
              <a:srgbClr val="9B7B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2240" y="39776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2084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437083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AIにコードの解説をしてもらい、それを参考に理解できるようにしていった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553212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その他の手戻り　</a:t>
            </a:r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自動テストはすべて成功していたが、手動テストで不具合が3件見つかり、修正した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AI利用効果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最初の完成まで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488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約7日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28〜42時間。チーム基準（40.5時間）とほぼ同じ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全体の工数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1488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2.2〜3.3倍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383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88〜132時間（22日×4〜6時間）。チーム基準の40.5時間と比べた倍率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人数で換算すると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1488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36〜81%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383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チーム4〜6人なら162〜243人時。1人でその36〜81%で完了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846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4846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テスト616件をすべて実施し、合格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484632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4846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846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要件の見直し1件、手動テストの不具合3件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学び・気づき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2EDFC"/>
          </a:solidFill>
          <a:ln w="9525">
            <a:solidFill>
              <a:srgbClr val="F2ED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6D3FD1"/>
          </a:solidFill>
          <a:ln w="12700">
            <a:solidFill>
              <a:srgbClr val="6D3F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3F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コードを読む力が必要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514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読めれば差分の時点で気づける。読めないと動作確認まで気づけない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23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小さな修正や気になった点で、「どうなってこうなっているのか」や「直すべき場所」が分からないことがあった。これが何度も起きると時間がもったいない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46304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EF3DC"/>
          </a:solidFill>
          <a:ln w="9525">
            <a:solidFill>
              <a:srgbClr val="FEF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1プロンプト1レビュー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92240" y="251460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2514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まとめて頼むと精度が下がる。絞って1つずつ確認すると理想に近づく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023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修正をまとめて依頼すると、精度が下がることがあった。完成度を上げるときは、依頼を絞り、1つずつ確認しながら進めた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2A1B4D"/>
          </a:solidFill>
          <a:ln w="9525">
            <a:solidFill>
              <a:srgbClr val="2A1B4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共通して感じたこと　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AIが作ったものは、自分で確認しなければならない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まとめ・今後の展望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2609"/>
            </a:avLst>
          </a:prstGeom>
          <a:solidFill>
            <a:srgbClr val="2A1B4D"/>
          </a:solidFill>
          <a:ln w="9525">
            <a:solidFill>
              <a:srgbClr val="2A1B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24028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一般利用者・管理者の機能を一通り実装し、616件のテストで確認した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657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19機能・17画面・35 API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DB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実働22日・1人＋AIで開発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今後追加したいこと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120640" y="2011680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2240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084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ヘッダーを常に表示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2468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下へスクロールしても、ナビゲーションが見えるようにする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20640" y="3044952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32735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92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31181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イベント一覧を見やすく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3502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ページ分けや月ごとのカレンダー表示など、件数が増えても見やすくする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20640" y="4078224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9240" y="430682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492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989320" y="41513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ダッシュボードから移動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45354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カードを押すと詳細や各画面へ移れるようにして、管理しやすくする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120640" y="5111496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49240" y="534009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492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51846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パスワードの確認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989320" y="55686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5C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入力したパスワードを表示して確認できるようにする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5C75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AB853B196F794D8522E079E5062DE1" ma:contentTypeVersion="10" ma:contentTypeDescription="新しいドキュメントを作成します。" ma:contentTypeScope="" ma:versionID="f5519c8ad0001dc1944c7d5117d6ef1e">
  <xsd:schema xmlns:xsd="http://www.w3.org/2001/XMLSchema" xmlns:xs="http://www.w3.org/2001/XMLSchema" xmlns:p="http://schemas.microsoft.com/office/2006/metadata/properties" xmlns:ns2="e8d6e06c-e60e-47a7-a324-5df51f361a1d" xmlns:ns3="0eb4123e-ff08-448a-a51c-d574d85865b6" targetNamespace="http://schemas.microsoft.com/office/2006/metadata/properties" ma:root="true" ma:fieldsID="6b6fc7ab0c5db989cb71f9aed3612649" ns2:_="" ns3:_="">
    <xsd:import namespace="e8d6e06c-e60e-47a7-a324-5df51f361a1d"/>
    <xsd:import namespace="0eb4123e-ff08-448a-a51c-d574d85865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6e06c-e60e-47a7-a324-5df51f361a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ae29c59-cffc-49bc-b1b2-82d81727b3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b4123e-ff08-448a-a51c-d574d85865b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7f6a86-eb1c-4018-be3f-ff946cbc1596}" ma:internalName="TaxCatchAll" ma:showField="CatchAllData" ma:web="0eb4123e-ff08-448a-a51c-d574d85865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d6e06c-e60e-47a7-a324-5df51f361a1d">
      <Terms xmlns="http://schemas.microsoft.com/office/infopath/2007/PartnerControls"/>
    </lcf76f155ced4ddcb4097134ff3c332f>
    <TaxCatchAll xmlns="0eb4123e-ff08-448a-a51c-d574d85865b6" xsi:nil="true"/>
  </documentManagement>
</p:properties>
</file>

<file path=customXml/itemProps1.xml><?xml version="1.0" encoding="utf-8"?>
<ds:datastoreItem xmlns:ds="http://schemas.openxmlformats.org/officeDocument/2006/customXml" ds:itemID="{BCF276BA-6F0A-4387-9CA3-9BDCEE9EABA6}"/>
</file>

<file path=customXml/itemProps2.xml><?xml version="1.0" encoding="utf-8"?>
<ds:datastoreItem xmlns:ds="http://schemas.openxmlformats.org/officeDocument/2006/customXml" ds:itemID="{91D27C73-3EB8-470D-814B-CA791B79C736}"/>
</file>

<file path=customXml/itemProps3.xml><?xml version="1.0" encoding="utf-8"?>
<ds:datastoreItem xmlns:ds="http://schemas.openxmlformats.org/officeDocument/2006/customXml" ds:itemID="{1D754253-9028-432D-90F4-AED57BD6257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イベント申込システム 成果発表</dc:title>
  <dc:subject>PptxGenJS Presentation</dc:subject>
  <dc:creator>佐々木 健成</dc:creator>
  <cp:lastModifiedBy>佐々木 健成</cp:lastModifiedBy>
  <cp:revision>1</cp:revision>
  <dcterms:created xsi:type="dcterms:W3CDTF">2026-10-15T07:35:42Z</dcterms:created>
  <dcterms:modified xsi:type="dcterms:W3CDTF">2026-10-15T07:35:42Z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0x01010012AB853B196F794D8522E079E5062DE1</vt:lpwstr>
  </property>
</Properties>
</file>